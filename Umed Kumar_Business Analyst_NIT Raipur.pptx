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Calibri (MS) Bold" charset="1" panose="020F0702030404030204"/>
      <p:regular r:id="rId10"/>
    </p:embeddedFont>
    <p:embeddedFont>
      <p:font typeface="Calibri (MS)" charset="1" panose="020F0502020204030204"/>
      <p:regular r:id="rId11"/>
    </p:embeddedFont>
    <p:embeddedFont>
      <p:font typeface="Calibri (MS) Bold Italics" charset="1" panose="020F07020304040A0204"/>
      <p:regular r:id="rId12"/>
    </p:embeddedFont>
    <p:embeddedFont>
      <p:font typeface="DejaVu Sans Light" charset="1" panose="020B0603030804020204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slide2.xml" Type="http://schemas.openxmlformats.org/officeDocument/2006/relationships/slid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png" Type="http://schemas.openxmlformats.org/officeDocument/2006/relationships/image"/><Relationship Id="rId12" Target="../media/image18.png" Type="http://schemas.openxmlformats.org/officeDocument/2006/relationships/image"/><Relationship Id="rId13" Target="../media/image19.png" Type="http://schemas.openxmlformats.org/officeDocument/2006/relationships/image"/><Relationship Id="rId14" Target="../media/image20.png" Type="http://schemas.openxmlformats.org/officeDocument/2006/relationships/image"/><Relationship Id="rId15" Target="../media/image21.png" Type="http://schemas.openxmlformats.org/officeDocument/2006/relationships/image"/><Relationship Id="rId16" Target="../media/image22.png" Type="http://schemas.openxmlformats.org/officeDocument/2006/relationships/image"/><Relationship Id="rId17" Target="../media/image23.png" Type="http://schemas.openxmlformats.org/officeDocument/2006/relationships/image"/><Relationship Id="rId18" Target="../media/image24.png" Type="http://schemas.openxmlformats.org/officeDocument/2006/relationships/image"/><Relationship Id="rId19" Target="../media/image25.png" Type="http://schemas.openxmlformats.org/officeDocument/2006/relationships/image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7994444"/>
            <a:ext cx="18288000" cy="2292556"/>
            <a:chOff x="0" y="0"/>
            <a:chExt cx="24384000" cy="30567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3056742"/>
            </a:xfrm>
            <a:custGeom>
              <a:avLst/>
              <a:gdLst/>
              <a:ahLst/>
              <a:cxnLst/>
              <a:rect r="r" b="b" t="t" l="l"/>
              <a:pathLst>
                <a:path h="3056742" w="24384000">
                  <a:moveTo>
                    <a:pt x="24384000" y="3056742"/>
                  </a:moveTo>
                  <a:lnTo>
                    <a:pt x="0" y="3056742"/>
                  </a:lnTo>
                  <a:lnTo>
                    <a:pt x="0" y="0"/>
                  </a:lnTo>
                  <a:lnTo>
                    <a:pt x="24384000" y="0"/>
                  </a:lnTo>
                  <a:lnTo>
                    <a:pt x="24384000" y="3056742"/>
                  </a:lnTo>
                  <a:close/>
                </a:path>
              </a:pathLst>
            </a:custGeom>
            <a:solidFill>
              <a:srgbClr val="40BA07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6975438" y="4554910"/>
            <a:ext cx="4337124" cy="2981773"/>
          </a:xfrm>
          <a:custGeom>
            <a:avLst/>
            <a:gdLst/>
            <a:ahLst/>
            <a:cxnLst/>
            <a:rect r="r" b="b" t="t" l="l"/>
            <a:pathLst>
              <a:path h="2981773" w="4337124">
                <a:moveTo>
                  <a:pt x="0" y="0"/>
                </a:moveTo>
                <a:lnTo>
                  <a:pt x="4337124" y="0"/>
                </a:lnTo>
                <a:lnTo>
                  <a:pt x="4337124" y="2981773"/>
                </a:lnTo>
                <a:lnTo>
                  <a:pt x="0" y="29817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>
            <a:hlinkClick r:id="rId4" action="ppaction://hlinksldjump"/>
          </p:cNvPr>
          <p:cNvSpPr/>
          <p:nvPr/>
        </p:nvSpPr>
        <p:spPr>
          <a:xfrm flipH="false" flipV="false" rot="0">
            <a:off x="14730915" y="7536683"/>
            <a:ext cx="3208078" cy="3208078"/>
          </a:xfrm>
          <a:custGeom>
            <a:avLst/>
            <a:gdLst/>
            <a:ahLst/>
            <a:cxnLst/>
            <a:rect r="r" b="b" t="t" l="l"/>
            <a:pathLst>
              <a:path h="3208078" w="3208078">
                <a:moveTo>
                  <a:pt x="0" y="0"/>
                </a:moveTo>
                <a:lnTo>
                  <a:pt x="3208078" y="0"/>
                </a:lnTo>
                <a:lnTo>
                  <a:pt x="3208078" y="3208078"/>
                </a:lnTo>
                <a:lnTo>
                  <a:pt x="0" y="32080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8464447"/>
            <a:ext cx="3606760" cy="130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Name - Umed Kumar</a:t>
            </a:r>
          </a:p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Branch - Mechanical Engineering</a:t>
            </a:r>
          </a:p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Semester - 7</a:t>
            </a:r>
            <a:r>
              <a:rPr lang="en-US" sz="21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</a:t>
            </a:r>
            <a:r>
              <a:rPr lang="en-US" sz="21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Semester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Roll No. - 22119104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0" y="885825"/>
            <a:ext cx="18288000" cy="2257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b="true" sz="6999">
                <a:solidFill>
                  <a:srgbClr val="40BA0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“L</a:t>
            </a:r>
            <a:r>
              <a:rPr lang="en-US" b="true" sz="6999">
                <a:solidFill>
                  <a:srgbClr val="40BA0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ead-to-Delivery Funnel Analysis &amp; Dashboarding”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155142" y="3650174"/>
            <a:ext cx="8672775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b="true" sz="3999" spc="-33">
                <a:gradFill>
                  <a:gsLst>
                    <a:gs pos="0">
                      <a:srgbClr val="082122">
                        <a:alpha val="100000"/>
                      </a:srgbClr>
                    </a:gs>
                    <a:gs pos="100000">
                      <a:srgbClr val="3FB60B">
                        <a:alpha val="100000"/>
                      </a:srgbClr>
                    </a:gs>
                  </a:gsLst>
                  <a:lin ang="0"/>
                </a:gradFill>
                <a:latin typeface="Calibri (MS) Bold"/>
                <a:ea typeface="Calibri (MS) Bold"/>
                <a:cs typeface="Calibri (MS) Bold"/>
                <a:sym typeface="Calibri (MS) Bold"/>
              </a:rPr>
              <a:t>Key </a:t>
            </a:r>
            <a:r>
              <a:rPr lang="en-US" b="true" sz="3999" spc="-33">
                <a:gradFill>
                  <a:gsLst>
                    <a:gs pos="0">
                      <a:srgbClr val="082122">
                        <a:alpha val="100000"/>
                      </a:srgbClr>
                    </a:gs>
                    <a:gs pos="100000">
                      <a:srgbClr val="3FB60B">
                        <a:alpha val="100000"/>
                      </a:srgbClr>
                    </a:gs>
                  </a:gsLst>
                  <a:lin ang="0"/>
                </a:gradFill>
                <a:latin typeface="Calibri (MS) Bold"/>
                <a:ea typeface="Calibri (MS) Bold"/>
                <a:cs typeface="Calibri (MS) Bold"/>
                <a:sym typeface="Calibri (MS) Bold"/>
              </a:rPr>
              <a:t>Insights, Recommendations &amp; Impact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5538" y="1409891"/>
            <a:ext cx="957262" cy="942975"/>
            <a:chOff x="0" y="0"/>
            <a:chExt cx="1276350" cy="1257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76350" cy="1257300"/>
            </a:xfrm>
            <a:custGeom>
              <a:avLst/>
              <a:gdLst/>
              <a:ahLst/>
              <a:cxnLst/>
              <a:rect r="r" b="b" t="t" l="l"/>
              <a:pathLst>
                <a:path h="1257300" w="1276350">
                  <a:moveTo>
                    <a:pt x="0" y="0"/>
                  </a:moveTo>
                  <a:lnTo>
                    <a:pt x="1276350" y="0"/>
                  </a:lnTo>
                  <a:lnTo>
                    <a:pt x="1276350" y="1257300"/>
                  </a:lnTo>
                  <a:lnTo>
                    <a:pt x="0" y="1257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757" r="0" b="-75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635613" y="1008003"/>
            <a:ext cx="2979171" cy="536461"/>
            <a:chOff x="0" y="0"/>
            <a:chExt cx="3972228" cy="71528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972179" cy="715264"/>
            </a:xfrm>
            <a:custGeom>
              <a:avLst/>
              <a:gdLst/>
              <a:ahLst/>
              <a:cxnLst/>
              <a:rect r="r" b="b" t="t" l="l"/>
              <a:pathLst>
                <a:path h="715264" w="3972179">
                  <a:moveTo>
                    <a:pt x="0" y="0"/>
                  </a:moveTo>
                  <a:lnTo>
                    <a:pt x="3972179" y="0"/>
                  </a:lnTo>
                  <a:lnTo>
                    <a:pt x="3972179" y="715264"/>
                  </a:lnTo>
                  <a:lnTo>
                    <a:pt x="0" y="7152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85" r="-1" b="-48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692831" y="1022727"/>
            <a:ext cx="2871788" cy="428625"/>
            <a:chOff x="0" y="0"/>
            <a:chExt cx="3829050" cy="571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29050" cy="571500"/>
            </a:xfrm>
            <a:custGeom>
              <a:avLst/>
              <a:gdLst/>
              <a:ahLst/>
              <a:cxnLst/>
              <a:rect r="r" b="b" t="t" l="l"/>
              <a:pathLst>
                <a:path h="571500" w="3829050">
                  <a:moveTo>
                    <a:pt x="0" y="0"/>
                  </a:moveTo>
                  <a:lnTo>
                    <a:pt x="3829050" y="0"/>
                  </a:lnTo>
                  <a:lnTo>
                    <a:pt x="3829050" y="571500"/>
                  </a:lnTo>
                  <a:lnTo>
                    <a:pt x="0" y="571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BA0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5798821" y="138113"/>
            <a:ext cx="6644638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b="true" sz="3600" spc="-6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Key Insights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0" y="328707"/>
            <a:ext cx="6014085" cy="342900"/>
            <a:chOff x="0" y="0"/>
            <a:chExt cx="8018780" cy="457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266446"/>
              <a:ext cx="8018780" cy="190373"/>
            </a:xfrm>
            <a:custGeom>
              <a:avLst/>
              <a:gdLst/>
              <a:ahLst/>
              <a:cxnLst/>
              <a:rect r="r" b="b" t="t" l="l"/>
              <a:pathLst>
                <a:path h="190373" w="8018780">
                  <a:moveTo>
                    <a:pt x="8018780" y="0"/>
                  </a:moveTo>
                  <a:lnTo>
                    <a:pt x="0" y="0"/>
                  </a:lnTo>
                  <a:lnTo>
                    <a:pt x="0" y="190373"/>
                  </a:lnTo>
                  <a:lnTo>
                    <a:pt x="8018780" y="190373"/>
                  </a:lnTo>
                  <a:lnTo>
                    <a:pt x="8018780" y="0"/>
                  </a:lnTo>
                  <a:close/>
                </a:path>
              </a:pathLst>
            </a:custGeom>
            <a:solidFill>
              <a:srgbClr val="40BA07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018780" cy="190373"/>
            </a:xfrm>
            <a:custGeom>
              <a:avLst/>
              <a:gdLst/>
              <a:ahLst/>
              <a:cxnLst/>
              <a:rect r="r" b="b" t="t" l="l"/>
              <a:pathLst>
                <a:path h="190373" w="8018780">
                  <a:moveTo>
                    <a:pt x="8018780" y="0"/>
                  </a:moveTo>
                  <a:lnTo>
                    <a:pt x="0" y="0"/>
                  </a:lnTo>
                  <a:lnTo>
                    <a:pt x="0" y="190373"/>
                  </a:lnTo>
                  <a:lnTo>
                    <a:pt x="8018780" y="190373"/>
                  </a:lnTo>
                  <a:lnTo>
                    <a:pt x="8018780" y="0"/>
                  </a:lnTo>
                  <a:close/>
                </a:path>
              </a:pathLst>
            </a:custGeom>
            <a:solidFill>
              <a:srgbClr val="40BA07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258675" y="328630"/>
            <a:ext cx="6028373" cy="371475"/>
            <a:chOff x="0" y="0"/>
            <a:chExt cx="8037830" cy="4953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288798"/>
              <a:ext cx="8037830" cy="206248"/>
            </a:xfrm>
            <a:custGeom>
              <a:avLst/>
              <a:gdLst/>
              <a:ahLst/>
              <a:cxnLst/>
              <a:rect r="r" b="b" t="t" l="l"/>
              <a:pathLst>
                <a:path h="206248" w="8037830">
                  <a:moveTo>
                    <a:pt x="8037830" y="0"/>
                  </a:moveTo>
                  <a:lnTo>
                    <a:pt x="0" y="0"/>
                  </a:lnTo>
                  <a:lnTo>
                    <a:pt x="0" y="206248"/>
                  </a:lnTo>
                  <a:lnTo>
                    <a:pt x="8037830" y="206248"/>
                  </a:lnTo>
                  <a:lnTo>
                    <a:pt x="8037830" y="0"/>
                  </a:lnTo>
                  <a:close/>
                </a:path>
              </a:pathLst>
            </a:custGeom>
            <a:solidFill>
              <a:srgbClr val="40BA07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037830" cy="206248"/>
            </a:xfrm>
            <a:custGeom>
              <a:avLst/>
              <a:gdLst/>
              <a:ahLst/>
              <a:cxnLst/>
              <a:rect r="r" b="b" t="t" l="l"/>
              <a:pathLst>
                <a:path h="206248" w="8037830">
                  <a:moveTo>
                    <a:pt x="8037830" y="0"/>
                  </a:moveTo>
                  <a:lnTo>
                    <a:pt x="0" y="0"/>
                  </a:lnTo>
                  <a:lnTo>
                    <a:pt x="0" y="206248"/>
                  </a:lnTo>
                  <a:lnTo>
                    <a:pt x="8037830" y="206248"/>
                  </a:lnTo>
                  <a:lnTo>
                    <a:pt x="8037830" y="0"/>
                  </a:lnTo>
                  <a:close/>
                </a:path>
              </a:pathLst>
            </a:custGeom>
            <a:solidFill>
              <a:srgbClr val="40BA07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2692831" y="1073654"/>
            <a:ext cx="285273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b="true" sz="1800" spc="-15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Number of Leads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337934" y="1079883"/>
            <a:ext cx="857250" cy="314325"/>
            <a:chOff x="0" y="0"/>
            <a:chExt cx="1143000" cy="4191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43000" cy="419100"/>
            </a:xfrm>
            <a:custGeom>
              <a:avLst/>
              <a:gdLst/>
              <a:ahLst/>
              <a:cxnLst/>
              <a:rect r="r" b="b" t="t" l="l"/>
              <a:pathLst>
                <a:path h="419100" w="1143000">
                  <a:moveTo>
                    <a:pt x="933450" y="0"/>
                  </a:moveTo>
                  <a:lnTo>
                    <a:pt x="933450" y="104648"/>
                  </a:lnTo>
                  <a:lnTo>
                    <a:pt x="0" y="104648"/>
                  </a:lnTo>
                  <a:lnTo>
                    <a:pt x="0" y="314198"/>
                  </a:lnTo>
                  <a:lnTo>
                    <a:pt x="933450" y="314198"/>
                  </a:lnTo>
                  <a:lnTo>
                    <a:pt x="933450" y="419100"/>
                  </a:lnTo>
                  <a:lnTo>
                    <a:pt x="1143000" y="209550"/>
                  </a:lnTo>
                  <a:lnTo>
                    <a:pt x="933450" y="0"/>
                  </a:lnTo>
                  <a:close/>
                </a:path>
              </a:pathLst>
            </a:custGeom>
            <a:solidFill>
              <a:srgbClr val="F89915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080942" y="980823"/>
            <a:ext cx="2964884" cy="522190"/>
            <a:chOff x="0" y="0"/>
            <a:chExt cx="3953178" cy="69625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953129" cy="696214"/>
            </a:xfrm>
            <a:custGeom>
              <a:avLst/>
              <a:gdLst/>
              <a:ahLst/>
              <a:cxnLst/>
              <a:rect r="r" b="b" t="t" l="l"/>
              <a:pathLst>
                <a:path h="696214" w="3953129">
                  <a:moveTo>
                    <a:pt x="0" y="0"/>
                  </a:moveTo>
                  <a:lnTo>
                    <a:pt x="3953129" y="0"/>
                  </a:lnTo>
                  <a:lnTo>
                    <a:pt x="3953129" y="696214"/>
                  </a:lnTo>
                  <a:lnTo>
                    <a:pt x="0" y="6962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99" r="-1" b="-505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138159" y="995553"/>
            <a:ext cx="2857500" cy="414338"/>
            <a:chOff x="0" y="0"/>
            <a:chExt cx="3810000" cy="5524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810000" cy="552450"/>
            </a:xfrm>
            <a:custGeom>
              <a:avLst/>
              <a:gdLst/>
              <a:ahLst/>
              <a:cxnLst/>
              <a:rect r="r" b="b" t="t" l="l"/>
              <a:pathLst>
                <a:path h="552450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552450"/>
                  </a:lnTo>
                  <a:lnTo>
                    <a:pt x="0" y="5524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BA0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8799900" y="1032194"/>
            <a:ext cx="2838697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Conversion Rates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1810047" y="1079885"/>
            <a:ext cx="857250" cy="314325"/>
            <a:chOff x="0" y="0"/>
            <a:chExt cx="1143000" cy="4191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43000" cy="419100"/>
            </a:xfrm>
            <a:custGeom>
              <a:avLst/>
              <a:gdLst/>
              <a:ahLst/>
              <a:cxnLst/>
              <a:rect r="r" b="b" t="t" l="l"/>
              <a:pathLst>
                <a:path h="419100" w="1143000">
                  <a:moveTo>
                    <a:pt x="933450" y="0"/>
                  </a:moveTo>
                  <a:lnTo>
                    <a:pt x="933450" y="104648"/>
                  </a:lnTo>
                  <a:lnTo>
                    <a:pt x="0" y="104648"/>
                  </a:lnTo>
                  <a:lnTo>
                    <a:pt x="0" y="314198"/>
                  </a:lnTo>
                  <a:lnTo>
                    <a:pt x="933450" y="314198"/>
                  </a:lnTo>
                  <a:lnTo>
                    <a:pt x="933450" y="419100"/>
                  </a:lnTo>
                  <a:lnTo>
                    <a:pt x="1143000" y="209550"/>
                  </a:lnTo>
                  <a:lnTo>
                    <a:pt x="933450" y="0"/>
                  </a:lnTo>
                  <a:close/>
                </a:path>
              </a:pathLst>
            </a:custGeom>
            <a:solidFill>
              <a:srgbClr val="F89915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7697152" y="1539623"/>
            <a:ext cx="4863465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Ov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erall </a:t>
            </a:r>
            <a:r>
              <a:rPr lang="en-US" sz="21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gap 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of </a:t>
            </a:r>
            <a:r>
              <a:rPr lang="en-US" sz="21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18.8% (188 leads)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that have </a:t>
            </a:r>
            <a:r>
              <a:rPr lang="en-US" sz="21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not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yet been </a:t>
            </a:r>
            <a:r>
              <a:rPr lang="en-US" sz="21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assigned a delivery date.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942454" y="1539623"/>
            <a:ext cx="4654032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</a:t>
            </a:r>
            <a:r>
              <a:rPr lang="en-US" sz="21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ennai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has the </a:t>
            </a:r>
            <a:r>
              <a:rPr lang="en-US" sz="21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lowest number of leads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at 212.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235794" y="1063547"/>
            <a:ext cx="2604683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Cancellation</a:t>
            </a:r>
            <a:r>
              <a:rPr lang="en-US" sz="18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Pattern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801303" y="1542005"/>
            <a:ext cx="5247619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Cancellations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are primarily driven by </a:t>
            </a:r>
            <a:r>
              <a:rPr lang="en-US" sz="21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financial factors — “Price” and “Financing Issue”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— which together account for </a:t>
            </a:r>
            <a:r>
              <a:rPr lang="en-US" sz="21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44.3% of all cases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09325" y="4093210"/>
            <a:ext cx="176212" cy="395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2100" spc="-75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0" y="832235"/>
            <a:ext cx="18316574" cy="62863"/>
            <a:chOff x="0" y="0"/>
            <a:chExt cx="24422098" cy="8381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19050" y="0"/>
              <a:ext cx="24384000" cy="83312"/>
            </a:xfrm>
            <a:custGeom>
              <a:avLst/>
              <a:gdLst/>
              <a:ahLst/>
              <a:cxnLst/>
              <a:rect r="r" b="b" t="t" l="l"/>
              <a:pathLst>
                <a:path h="83312" w="24384000">
                  <a:moveTo>
                    <a:pt x="0" y="0"/>
                  </a:moveTo>
                  <a:lnTo>
                    <a:pt x="24384000" y="45212"/>
                  </a:lnTo>
                  <a:lnTo>
                    <a:pt x="24383873" y="83312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CBA19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149278" y="2680685"/>
            <a:ext cx="2979171" cy="536461"/>
            <a:chOff x="0" y="0"/>
            <a:chExt cx="3972228" cy="71528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972179" cy="715264"/>
            </a:xfrm>
            <a:custGeom>
              <a:avLst/>
              <a:gdLst/>
              <a:ahLst/>
              <a:cxnLst/>
              <a:rect r="r" b="b" t="t" l="l"/>
              <a:pathLst>
                <a:path h="715264" w="3972179">
                  <a:moveTo>
                    <a:pt x="0" y="0"/>
                  </a:moveTo>
                  <a:lnTo>
                    <a:pt x="3972179" y="0"/>
                  </a:lnTo>
                  <a:lnTo>
                    <a:pt x="3972179" y="715264"/>
                  </a:lnTo>
                  <a:lnTo>
                    <a:pt x="0" y="7152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85" r="-1" b="-487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206496" y="2695409"/>
            <a:ext cx="2871788" cy="428625"/>
            <a:chOff x="0" y="0"/>
            <a:chExt cx="3829050" cy="5715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829050" cy="571500"/>
            </a:xfrm>
            <a:custGeom>
              <a:avLst/>
              <a:gdLst/>
              <a:ahLst/>
              <a:cxnLst/>
              <a:rect r="r" b="b" t="t" l="l"/>
              <a:pathLst>
                <a:path h="571500" w="3829050">
                  <a:moveTo>
                    <a:pt x="0" y="0"/>
                  </a:moveTo>
                  <a:lnTo>
                    <a:pt x="3829050" y="0"/>
                  </a:lnTo>
                  <a:lnTo>
                    <a:pt x="3829050" y="571500"/>
                  </a:lnTo>
                  <a:lnTo>
                    <a:pt x="0" y="571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BA0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36" id="36"/>
          <p:cNvSpPr txBox="true"/>
          <p:nvPr/>
        </p:nvSpPr>
        <p:spPr>
          <a:xfrm rot="0">
            <a:off x="1206496" y="2746336"/>
            <a:ext cx="285273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b="true" sz="1800" spc="-15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Highest Cancellations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4851599" y="2752565"/>
            <a:ext cx="857250" cy="314325"/>
            <a:chOff x="0" y="0"/>
            <a:chExt cx="1143000" cy="4191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143000" cy="419100"/>
            </a:xfrm>
            <a:custGeom>
              <a:avLst/>
              <a:gdLst/>
              <a:ahLst/>
              <a:cxnLst/>
              <a:rect r="r" b="b" t="t" l="l"/>
              <a:pathLst>
                <a:path h="419100" w="1143000">
                  <a:moveTo>
                    <a:pt x="933450" y="0"/>
                  </a:moveTo>
                  <a:lnTo>
                    <a:pt x="933450" y="104648"/>
                  </a:lnTo>
                  <a:lnTo>
                    <a:pt x="0" y="104648"/>
                  </a:lnTo>
                  <a:lnTo>
                    <a:pt x="0" y="314198"/>
                  </a:lnTo>
                  <a:lnTo>
                    <a:pt x="933450" y="314198"/>
                  </a:lnTo>
                  <a:lnTo>
                    <a:pt x="933450" y="419100"/>
                  </a:lnTo>
                  <a:lnTo>
                    <a:pt x="1143000" y="209550"/>
                  </a:lnTo>
                  <a:lnTo>
                    <a:pt x="933450" y="0"/>
                  </a:lnTo>
                  <a:close/>
                </a:path>
              </a:pathLst>
            </a:custGeom>
            <a:solidFill>
              <a:srgbClr val="F89915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7076058" y="2665955"/>
            <a:ext cx="2964884" cy="522190"/>
            <a:chOff x="0" y="0"/>
            <a:chExt cx="3953178" cy="69625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953129" cy="696214"/>
            </a:xfrm>
            <a:custGeom>
              <a:avLst/>
              <a:gdLst/>
              <a:ahLst/>
              <a:cxnLst/>
              <a:rect r="r" b="b" t="t" l="l"/>
              <a:pathLst>
                <a:path h="696214" w="3953129">
                  <a:moveTo>
                    <a:pt x="0" y="0"/>
                  </a:moveTo>
                  <a:lnTo>
                    <a:pt x="3953129" y="0"/>
                  </a:lnTo>
                  <a:lnTo>
                    <a:pt x="3953129" y="696214"/>
                  </a:lnTo>
                  <a:lnTo>
                    <a:pt x="0" y="6962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99" r="-1" b="-505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7133276" y="2680685"/>
            <a:ext cx="2857500" cy="414338"/>
            <a:chOff x="0" y="0"/>
            <a:chExt cx="3810000" cy="55245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810000" cy="552450"/>
            </a:xfrm>
            <a:custGeom>
              <a:avLst/>
              <a:gdLst/>
              <a:ahLst/>
              <a:cxnLst/>
              <a:rect r="r" b="b" t="t" l="l"/>
              <a:pathLst>
                <a:path h="552450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552450"/>
                  </a:lnTo>
                  <a:lnTo>
                    <a:pt x="0" y="5524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BA0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43" id="43"/>
          <p:cNvSpPr txBox="true"/>
          <p:nvPr/>
        </p:nvSpPr>
        <p:spPr>
          <a:xfrm rot="0">
            <a:off x="7129750" y="2716404"/>
            <a:ext cx="285750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Worst Performance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6069071" y="3133360"/>
            <a:ext cx="6134618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Mumb</a:t>
            </a:r>
            <a:r>
              <a:rPr lang="en-US" sz="21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 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the </a:t>
            </a:r>
            <a:r>
              <a:rPr lang="en-US" sz="21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worst-performing city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with nearly h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lf of it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cu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tom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rs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(</a:t>
            </a:r>
            <a:r>
              <a:rPr lang="en-US" sz="21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48.24%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)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ei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ng </a:t>
            </a:r>
            <a:r>
              <a:rPr lang="en-US" sz="21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Detractors.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385538" y="3169522"/>
            <a:ext cx="5323311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</a:t>
            </a:r>
            <a:r>
              <a:rPr lang="en-US" sz="21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elhi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has the highest number of </a:t>
            </a:r>
            <a:r>
              <a:rPr lang="en-US" sz="21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cancellations (77).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13265663" y="2680685"/>
            <a:ext cx="2964884" cy="522190"/>
            <a:chOff x="0" y="0"/>
            <a:chExt cx="3953178" cy="69625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953129" cy="696214"/>
            </a:xfrm>
            <a:custGeom>
              <a:avLst/>
              <a:gdLst/>
              <a:ahLst/>
              <a:cxnLst/>
              <a:rect r="r" b="b" t="t" l="l"/>
              <a:pathLst>
                <a:path h="696214" w="3953129">
                  <a:moveTo>
                    <a:pt x="0" y="0"/>
                  </a:moveTo>
                  <a:lnTo>
                    <a:pt x="3953129" y="0"/>
                  </a:lnTo>
                  <a:lnTo>
                    <a:pt x="3953129" y="696214"/>
                  </a:lnTo>
                  <a:lnTo>
                    <a:pt x="0" y="6962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99" r="-1" b="-505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3322880" y="2695415"/>
            <a:ext cx="2857500" cy="414338"/>
            <a:chOff x="0" y="0"/>
            <a:chExt cx="3810000" cy="55245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810000" cy="552450"/>
            </a:xfrm>
            <a:custGeom>
              <a:avLst/>
              <a:gdLst/>
              <a:ahLst/>
              <a:cxnLst/>
              <a:rect r="r" b="b" t="t" l="l"/>
              <a:pathLst>
                <a:path h="552450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552450"/>
                  </a:lnTo>
                  <a:lnTo>
                    <a:pt x="0" y="5524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BA0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50" id="50"/>
          <p:cNvSpPr txBox="true"/>
          <p:nvPr/>
        </p:nvSpPr>
        <p:spPr>
          <a:xfrm rot="0">
            <a:off x="13373046" y="2755601"/>
            <a:ext cx="285750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Worst Performance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2258675" y="3148090"/>
            <a:ext cx="6134618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Mumb</a:t>
            </a:r>
            <a:r>
              <a:rPr lang="en-US" sz="21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 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the </a:t>
            </a:r>
            <a:r>
              <a:rPr lang="en-US" sz="21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worst-performing city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with nearly h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lf of it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cu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tom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rs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(</a:t>
            </a:r>
            <a:r>
              <a:rPr lang="en-US" sz="21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48.24%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)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ei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ng </a:t>
            </a:r>
            <a:r>
              <a:rPr lang="en-US" sz="21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Detractors.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0" y="3969622"/>
            <a:ext cx="18316574" cy="62863"/>
            <a:chOff x="0" y="0"/>
            <a:chExt cx="24422098" cy="8381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19050" y="0"/>
              <a:ext cx="24384000" cy="83312"/>
            </a:xfrm>
            <a:custGeom>
              <a:avLst/>
              <a:gdLst/>
              <a:ahLst/>
              <a:cxnLst/>
              <a:rect r="r" b="b" t="t" l="l"/>
              <a:pathLst>
                <a:path h="83312" w="24384000">
                  <a:moveTo>
                    <a:pt x="0" y="0"/>
                  </a:moveTo>
                  <a:lnTo>
                    <a:pt x="24384000" y="45212"/>
                  </a:lnTo>
                  <a:lnTo>
                    <a:pt x="24383873" y="83312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CBA19"/>
            </a:solidFill>
          </p:spPr>
        </p:sp>
      </p:grpSp>
      <p:sp>
        <p:nvSpPr>
          <p:cNvPr name="TextBox 54" id="54"/>
          <p:cNvSpPr txBox="true"/>
          <p:nvPr/>
        </p:nvSpPr>
        <p:spPr>
          <a:xfrm rot="0">
            <a:off x="5821681" y="4127735"/>
            <a:ext cx="6644638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b="true" sz="3600" spc="-6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Operational Gaps 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29526" y="4289755"/>
            <a:ext cx="6014085" cy="342900"/>
            <a:chOff x="0" y="0"/>
            <a:chExt cx="8018780" cy="4572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266446"/>
              <a:ext cx="8018780" cy="190373"/>
            </a:xfrm>
            <a:custGeom>
              <a:avLst/>
              <a:gdLst/>
              <a:ahLst/>
              <a:cxnLst/>
              <a:rect r="r" b="b" t="t" l="l"/>
              <a:pathLst>
                <a:path h="190373" w="8018780">
                  <a:moveTo>
                    <a:pt x="8018780" y="0"/>
                  </a:moveTo>
                  <a:lnTo>
                    <a:pt x="0" y="0"/>
                  </a:lnTo>
                  <a:lnTo>
                    <a:pt x="0" y="190373"/>
                  </a:lnTo>
                  <a:lnTo>
                    <a:pt x="8018780" y="190373"/>
                  </a:lnTo>
                  <a:lnTo>
                    <a:pt x="8018780" y="0"/>
                  </a:lnTo>
                  <a:close/>
                </a:path>
              </a:pathLst>
            </a:custGeom>
            <a:solidFill>
              <a:srgbClr val="40BA07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018780" cy="190373"/>
            </a:xfrm>
            <a:custGeom>
              <a:avLst/>
              <a:gdLst/>
              <a:ahLst/>
              <a:cxnLst/>
              <a:rect r="r" b="b" t="t" l="l"/>
              <a:pathLst>
                <a:path h="190373" w="8018780">
                  <a:moveTo>
                    <a:pt x="8018780" y="0"/>
                  </a:moveTo>
                  <a:lnTo>
                    <a:pt x="0" y="0"/>
                  </a:lnTo>
                  <a:lnTo>
                    <a:pt x="0" y="190373"/>
                  </a:lnTo>
                  <a:lnTo>
                    <a:pt x="8018780" y="190373"/>
                  </a:lnTo>
                  <a:lnTo>
                    <a:pt x="8018780" y="0"/>
                  </a:lnTo>
                  <a:close/>
                </a:path>
              </a:pathLst>
            </a:custGeom>
            <a:solidFill>
              <a:srgbClr val="40BA07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2288201" y="4289678"/>
            <a:ext cx="6028373" cy="371475"/>
            <a:chOff x="0" y="0"/>
            <a:chExt cx="8037830" cy="4953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288798"/>
              <a:ext cx="8037830" cy="206248"/>
            </a:xfrm>
            <a:custGeom>
              <a:avLst/>
              <a:gdLst/>
              <a:ahLst/>
              <a:cxnLst/>
              <a:rect r="r" b="b" t="t" l="l"/>
              <a:pathLst>
                <a:path h="206248" w="8037830">
                  <a:moveTo>
                    <a:pt x="8037830" y="0"/>
                  </a:moveTo>
                  <a:lnTo>
                    <a:pt x="0" y="0"/>
                  </a:lnTo>
                  <a:lnTo>
                    <a:pt x="0" y="206248"/>
                  </a:lnTo>
                  <a:lnTo>
                    <a:pt x="8037830" y="206248"/>
                  </a:lnTo>
                  <a:lnTo>
                    <a:pt x="8037830" y="0"/>
                  </a:lnTo>
                  <a:close/>
                </a:path>
              </a:pathLst>
            </a:custGeom>
            <a:solidFill>
              <a:srgbClr val="40BA07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037830" cy="206248"/>
            </a:xfrm>
            <a:custGeom>
              <a:avLst/>
              <a:gdLst/>
              <a:ahLst/>
              <a:cxnLst/>
              <a:rect r="r" b="b" t="t" l="l"/>
              <a:pathLst>
                <a:path h="206248" w="8037830">
                  <a:moveTo>
                    <a:pt x="8037830" y="0"/>
                  </a:moveTo>
                  <a:lnTo>
                    <a:pt x="0" y="0"/>
                  </a:lnTo>
                  <a:lnTo>
                    <a:pt x="0" y="206248"/>
                  </a:lnTo>
                  <a:lnTo>
                    <a:pt x="8037830" y="206248"/>
                  </a:lnTo>
                  <a:lnTo>
                    <a:pt x="8037830" y="0"/>
                  </a:lnTo>
                  <a:close/>
                </a:path>
              </a:pathLst>
            </a:custGeom>
            <a:solidFill>
              <a:srgbClr val="40BA07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1109404" y="2754504"/>
            <a:ext cx="857250" cy="314325"/>
            <a:chOff x="0" y="0"/>
            <a:chExt cx="1143000" cy="4191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143000" cy="419100"/>
            </a:xfrm>
            <a:custGeom>
              <a:avLst/>
              <a:gdLst/>
              <a:ahLst/>
              <a:cxnLst/>
              <a:rect r="r" b="b" t="t" l="l"/>
              <a:pathLst>
                <a:path h="419100" w="1143000">
                  <a:moveTo>
                    <a:pt x="933450" y="0"/>
                  </a:moveTo>
                  <a:lnTo>
                    <a:pt x="933450" y="104648"/>
                  </a:lnTo>
                  <a:lnTo>
                    <a:pt x="0" y="104648"/>
                  </a:lnTo>
                  <a:lnTo>
                    <a:pt x="0" y="314198"/>
                  </a:lnTo>
                  <a:lnTo>
                    <a:pt x="933450" y="314198"/>
                  </a:lnTo>
                  <a:lnTo>
                    <a:pt x="933450" y="419100"/>
                  </a:lnTo>
                  <a:lnTo>
                    <a:pt x="1143000" y="209550"/>
                  </a:lnTo>
                  <a:lnTo>
                    <a:pt x="933450" y="0"/>
                  </a:lnTo>
                  <a:close/>
                </a:path>
              </a:pathLst>
            </a:custGeom>
            <a:solidFill>
              <a:srgbClr val="F89915"/>
            </a:solidFill>
          </p:spPr>
        </p:sp>
      </p:grpSp>
      <p:sp>
        <p:nvSpPr>
          <p:cNvPr name="Freeform 63" id="63"/>
          <p:cNvSpPr/>
          <p:nvPr/>
        </p:nvSpPr>
        <p:spPr>
          <a:xfrm flipH="false" flipV="false" rot="0">
            <a:off x="9012724" y="4842110"/>
            <a:ext cx="30480" cy="6456045"/>
          </a:xfrm>
          <a:custGeom>
            <a:avLst/>
            <a:gdLst/>
            <a:ahLst/>
            <a:cxnLst/>
            <a:rect r="r" b="b" t="t" l="l"/>
            <a:pathLst>
              <a:path h="6456045" w="30480">
                <a:moveTo>
                  <a:pt x="0" y="0"/>
                </a:moveTo>
                <a:lnTo>
                  <a:pt x="30480" y="0"/>
                </a:lnTo>
                <a:lnTo>
                  <a:pt x="30480" y="6456045"/>
                </a:lnTo>
                <a:lnTo>
                  <a:pt x="0" y="64560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w="9525" cap="sq">
            <a:solidFill>
              <a:srgbClr val="40BA07"/>
            </a:solidFill>
            <a:prstDash val="solid"/>
            <a:miter/>
          </a:ln>
        </p:spPr>
      </p:sp>
      <p:sp>
        <p:nvSpPr>
          <p:cNvPr name="TextBox 64" id="64"/>
          <p:cNvSpPr txBox="true"/>
          <p:nvPr/>
        </p:nvSpPr>
        <p:spPr>
          <a:xfrm rot="0">
            <a:off x="71062" y="5061960"/>
            <a:ext cx="176212" cy="395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2100" spc="-75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</a:t>
            </a:r>
          </a:p>
        </p:txBody>
      </p:sp>
      <p:grpSp>
        <p:nvGrpSpPr>
          <p:cNvPr name="Group 65" id="65"/>
          <p:cNvGrpSpPr/>
          <p:nvPr/>
        </p:nvGrpSpPr>
        <p:grpSpPr>
          <a:xfrm rot="0">
            <a:off x="7299" y="4842110"/>
            <a:ext cx="4206416" cy="414338"/>
            <a:chOff x="0" y="0"/>
            <a:chExt cx="5608555" cy="55245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608555" cy="552450"/>
            </a:xfrm>
            <a:custGeom>
              <a:avLst/>
              <a:gdLst/>
              <a:ahLst/>
              <a:cxnLst/>
              <a:rect r="r" b="b" t="t" l="l"/>
              <a:pathLst>
                <a:path h="552450" w="5608555">
                  <a:moveTo>
                    <a:pt x="0" y="0"/>
                  </a:moveTo>
                  <a:lnTo>
                    <a:pt x="5608555" y="0"/>
                  </a:lnTo>
                  <a:lnTo>
                    <a:pt x="5608555" y="552450"/>
                  </a:lnTo>
                  <a:lnTo>
                    <a:pt x="0" y="5524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BA19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4510211" y="4842110"/>
            <a:ext cx="4183790" cy="414338"/>
            <a:chOff x="0" y="0"/>
            <a:chExt cx="5578387" cy="55245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5578387" cy="552450"/>
            </a:xfrm>
            <a:custGeom>
              <a:avLst/>
              <a:gdLst/>
              <a:ahLst/>
              <a:cxnLst/>
              <a:rect r="r" b="b" t="t" l="l"/>
              <a:pathLst>
                <a:path h="552450" w="5578387">
                  <a:moveTo>
                    <a:pt x="0" y="0"/>
                  </a:moveTo>
                  <a:lnTo>
                    <a:pt x="5578387" y="0"/>
                  </a:lnTo>
                  <a:lnTo>
                    <a:pt x="5578387" y="552450"/>
                  </a:lnTo>
                  <a:lnTo>
                    <a:pt x="0" y="5524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BA1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9" id="69"/>
          <p:cNvSpPr txBox="true"/>
          <p:nvPr/>
        </p:nvSpPr>
        <p:spPr>
          <a:xfrm rot="0">
            <a:off x="7299" y="4884529"/>
            <a:ext cx="4154329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b="true" sz="1800" spc="-15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Stuck Customer Pipeline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4524942" y="4894054"/>
            <a:ext cx="4154329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b="true" sz="1800" spc="-15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Poor Financial Qualification</a:t>
            </a:r>
          </a:p>
        </p:txBody>
      </p:sp>
      <p:grpSp>
        <p:nvGrpSpPr>
          <p:cNvPr name="Group 71" id="71"/>
          <p:cNvGrpSpPr/>
          <p:nvPr/>
        </p:nvGrpSpPr>
        <p:grpSpPr>
          <a:xfrm rot="0">
            <a:off x="9215853" y="4842110"/>
            <a:ext cx="4206416" cy="414338"/>
            <a:chOff x="0" y="0"/>
            <a:chExt cx="5608555" cy="55245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608555" cy="552450"/>
            </a:xfrm>
            <a:custGeom>
              <a:avLst/>
              <a:gdLst/>
              <a:ahLst/>
              <a:cxnLst/>
              <a:rect r="r" b="b" t="t" l="l"/>
              <a:pathLst>
                <a:path h="552450" w="5608555">
                  <a:moveTo>
                    <a:pt x="0" y="0"/>
                  </a:moveTo>
                  <a:lnTo>
                    <a:pt x="5608555" y="0"/>
                  </a:lnTo>
                  <a:lnTo>
                    <a:pt x="5608555" y="552450"/>
                  </a:lnTo>
                  <a:lnTo>
                    <a:pt x="0" y="5524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BA19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73" id="73"/>
          <p:cNvGrpSpPr/>
          <p:nvPr/>
        </p:nvGrpSpPr>
        <p:grpSpPr>
          <a:xfrm rot="0">
            <a:off x="13718765" y="4842110"/>
            <a:ext cx="4183790" cy="414338"/>
            <a:chOff x="0" y="0"/>
            <a:chExt cx="5578387" cy="55245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5578387" cy="552450"/>
            </a:xfrm>
            <a:custGeom>
              <a:avLst/>
              <a:gdLst/>
              <a:ahLst/>
              <a:cxnLst/>
              <a:rect r="r" b="b" t="t" l="l"/>
              <a:pathLst>
                <a:path h="552450" w="5578387">
                  <a:moveTo>
                    <a:pt x="0" y="0"/>
                  </a:moveTo>
                  <a:lnTo>
                    <a:pt x="5578387" y="0"/>
                  </a:lnTo>
                  <a:lnTo>
                    <a:pt x="5578387" y="552450"/>
                  </a:lnTo>
                  <a:lnTo>
                    <a:pt x="0" y="5524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BA1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75" id="75"/>
          <p:cNvSpPr txBox="true"/>
          <p:nvPr/>
        </p:nvSpPr>
        <p:spPr>
          <a:xfrm rot="0">
            <a:off x="9215853" y="4884529"/>
            <a:ext cx="4154329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b="true" sz="1800" spc="-15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Failing Your Best Customers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3733495" y="4894054"/>
            <a:ext cx="4154329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b="true" sz="1800" spc="-15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Flawed Data and Decisions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55962" y="5380273"/>
            <a:ext cx="4330563" cy="130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 large portion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of customers (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18.8%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or 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188 leads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) are stuck in the sales process without a delivery date, 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indicating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a 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major operational bo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ttleneck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29526" y="7009048"/>
            <a:ext cx="4006881" cy="130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is problem is 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not company-wide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; 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it is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entrated in Bangalore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and Delhi, whi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 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ea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respo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nsi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ble for 51 of 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hese s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alled lead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29526" y="8523523"/>
            <a:ext cx="4265770" cy="130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This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elay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creates 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 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or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customer 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experience 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with 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long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uncertain waits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which puts a large amount of 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potential revenue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at a high risk of cancellation.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4524942" y="5380273"/>
            <a:ext cx="4376601" cy="130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Nearly 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half 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of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all 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cancellations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(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44.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%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)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are 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due to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"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Price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" and "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Financing Issue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," showing a fundamental flaw in the sales process.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4510211" y="7047148"/>
            <a:ext cx="3953946" cy="130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sales team 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 was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ing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me on 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non-v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ble 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leads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by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ai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li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check if customers can actually 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afford 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product early on.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4386525" y="8599723"/>
            <a:ext cx="4465511" cy="130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This 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problem 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is 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most severe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in 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Delhi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which leads all other cities in cancellations specifically 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due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ustom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ers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fail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ing 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to 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cure 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financing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9313178" y="5409940"/>
            <a:ext cx="4057003" cy="130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 c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an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y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'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"best" s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al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es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c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ies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Mu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nd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Banga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or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are ironically creating its 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unhappiest customers 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(the most "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Detractors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").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9348328" y="7114915"/>
            <a:ext cx="3974552" cy="130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is suggests sales teams in these cities are 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over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-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promising 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to 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close deals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and the operations teams are 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failing 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to 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meet 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those 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expectations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9359848" y="8638915"/>
            <a:ext cx="4057003" cy="130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is 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angerous gap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means the company is 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actively turning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its 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most valuable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"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Hot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" leads into its biggest 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critics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3808212" y="5409940"/>
            <a:ext cx="4240709" cy="161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 massive 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21%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of all 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cancellation 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reasons are logged as "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Other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," creating a huge 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blind spot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that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prevents management 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from 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fixing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 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al 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blem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3799130" y="7143490"/>
            <a:ext cx="4249792" cy="130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company is making 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poor decisions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with its 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resources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such as sending the fewest 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new leads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to 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Chennai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the city with the 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ppiest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c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sto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mers.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13733495" y="8638915"/>
            <a:ext cx="4240709" cy="130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This 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flawed data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means managers 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are "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flying blind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," unable to 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identify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which p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ar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ts of 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he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perati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 ar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 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truly work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or 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which are failing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</p:txBody>
      </p:sp>
      <p:grpSp>
        <p:nvGrpSpPr>
          <p:cNvPr name="Group 89" id="89"/>
          <p:cNvGrpSpPr/>
          <p:nvPr/>
        </p:nvGrpSpPr>
        <p:grpSpPr>
          <a:xfrm rot="0">
            <a:off x="13759308" y="995553"/>
            <a:ext cx="2964884" cy="522190"/>
            <a:chOff x="0" y="0"/>
            <a:chExt cx="3953178" cy="696254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3953129" cy="696214"/>
            </a:xfrm>
            <a:custGeom>
              <a:avLst/>
              <a:gdLst/>
              <a:ahLst/>
              <a:cxnLst/>
              <a:rect r="r" b="b" t="t" l="l"/>
              <a:pathLst>
                <a:path h="696214" w="3953129">
                  <a:moveTo>
                    <a:pt x="0" y="0"/>
                  </a:moveTo>
                  <a:lnTo>
                    <a:pt x="3953129" y="0"/>
                  </a:lnTo>
                  <a:lnTo>
                    <a:pt x="3953129" y="696214"/>
                  </a:lnTo>
                  <a:lnTo>
                    <a:pt x="0" y="6962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99" r="-1" b="-505"/>
              </a:stretch>
            </a:blip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13897234" y="1011205"/>
            <a:ext cx="2857500" cy="414338"/>
            <a:chOff x="0" y="0"/>
            <a:chExt cx="3810000" cy="55245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3810000" cy="552450"/>
            </a:xfrm>
            <a:custGeom>
              <a:avLst/>
              <a:gdLst/>
              <a:ahLst/>
              <a:cxnLst/>
              <a:rect r="r" b="b" t="t" l="l"/>
              <a:pathLst>
                <a:path h="552450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552450"/>
                  </a:lnTo>
                  <a:lnTo>
                    <a:pt x="0" y="5524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BA0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93" id="93"/>
          <p:cNvSpPr txBox="true"/>
          <p:nvPr/>
        </p:nvSpPr>
        <p:spPr>
          <a:xfrm rot="0">
            <a:off x="14328056" y="1046924"/>
            <a:ext cx="1995855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Cancellation Pattern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3368" y="816864"/>
            <a:ext cx="490538" cy="476250"/>
          </a:xfrm>
          <a:custGeom>
            <a:avLst/>
            <a:gdLst/>
            <a:ahLst/>
            <a:cxnLst/>
            <a:rect r="r" b="b" t="t" l="l"/>
            <a:pathLst>
              <a:path h="476250" w="490538">
                <a:moveTo>
                  <a:pt x="0" y="0"/>
                </a:moveTo>
                <a:lnTo>
                  <a:pt x="490537" y="0"/>
                </a:lnTo>
                <a:lnTo>
                  <a:pt x="490537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212776" y="816864"/>
            <a:ext cx="476250" cy="476250"/>
          </a:xfrm>
          <a:custGeom>
            <a:avLst/>
            <a:gdLst/>
            <a:ahLst/>
            <a:cxnLst/>
            <a:rect r="r" b="b" t="t" l="l"/>
            <a:pathLst>
              <a:path h="476250" w="476250">
                <a:moveTo>
                  <a:pt x="0" y="0"/>
                </a:moveTo>
                <a:lnTo>
                  <a:pt x="476250" y="0"/>
                </a:lnTo>
                <a:lnTo>
                  <a:pt x="476250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816714" y="819673"/>
            <a:ext cx="454086" cy="441960"/>
            <a:chOff x="0" y="0"/>
            <a:chExt cx="605448" cy="589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5409" cy="589280"/>
            </a:xfrm>
            <a:custGeom>
              <a:avLst/>
              <a:gdLst/>
              <a:ahLst/>
              <a:cxnLst/>
              <a:rect r="r" b="b" t="t" l="l"/>
              <a:pathLst>
                <a:path h="589280" w="605409">
                  <a:moveTo>
                    <a:pt x="0" y="0"/>
                  </a:moveTo>
                  <a:lnTo>
                    <a:pt x="605409" y="0"/>
                  </a:lnTo>
                  <a:lnTo>
                    <a:pt x="605409" y="589280"/>
                  </a:lnTo>
                  <a:lnTo>
                    <a:pt x="0" y="589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34" t="0" r="-241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1914632" y="783684"/>
            <a:ext cx="490538" cy="476250"/>
          </a:xfrm>
          <a:custGeom>
            <a:avLst/>
            <a:gdLst/>
            <a:ahLst/>
            <a:cxnLst/>
            <a:rect r="r" b="b" t="t" l="l"/>
            <a:pathLst>
              <a:path h="476250" w="490538">
                <a:moveTo>
                  <a:pt x="0" y="0"/>
                </a:moveTo>
                <a:lnTo>
                  <a:pt x="490537" y="0"/>
                </a:lnTo>
                <a:lnTo>
                  <a:pt x="490537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2558712" y="747712"/>
            <a:ext cx="457200" cy="457200"/>
            <a:chOff x="0" y="0"/>
            <a:chExt cx="609600" cy="609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28687" y="833437"/>
            <a:ext cx="442912" cy="457200"/>
            <a:chOff x="0" y="0"/>
            <a:chExt cx="590550" cy="609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90550" cy="609600"/>
            </a:xfrm>
            <a:custGeom>
              <a:avLst/>
              <a:gdLst/>
              <a:ahLst/>
              <a:cxnLst/>
              <a:rect r="r" b="b" t="t" l="l"/>
              <a:pathLst>
                <a:path h="609600" w="590550">
                  <a:moveTo>
                    <a:pt x="0" y="0"/>
                  </a:moveTo>
                  <a:lnTo>
                    <a:pt x="590550" y="0"/>
                  </a:lnTo>
                  <a:lnTo>
                    <a:pt x="59055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1612" t="0" r="-161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31321" y="1590705"/>
            <a:ext cx="978005" cy="728888"/>
            <a:chOff x="0" y="0"/>
            <a:chExt cx="1304006" cy="9718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04036" cy="971804"/>
            </a:xfrm>
            <a:custGeom>
              <a:avLst/>
              <a:gdLst/>
              <a:ahLst/>
              <a:cxnLst/>
              <a:rect r="r" b="b" t="t" l="l"/>
              <a:pathLst>
                <a:path h="971804" w="1304036">
                  <a:moveTo>
                    <a:pt x="0" y="0"/>
                  </a:moveTo>
                  <a:lnTo>
                    <a:pt x="1304036" y="0"/>
                  </a:lnTo>
                  <a:lnTo>
                    <a:pt x="1304036" y="971804"/>
                  </a:lnTo>
                  <a:lnTo>
                    <a:pt x="0" y="971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17093" r="0" b="-17093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656870" y="1880911"/>
            <a:ext cx="741045" cy="162878"/>
            <a:chOff x="0" y="0"/>
            <a:chExt cx="988060" cy="21717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770255" y="0"/>
              <a:ext cx="199263" cy="216027"/>
            </a:xfrm>
            <a:custGeom>
              <a:avLst/>
              <a:gdLst/>
              <a:ahLst/>
              <a:cxnLst/>
              <a:rect r="r" b="b" t="t" l="l"/>
              <a:pathLst>
                <a:path h="216027" w="199263">
                  <a:moveTo>
                    <a:pt x="0" y="0"/>
                  </a:moveTo>
                  <a:lnTo>
                    <a:pt x="0" y="216027"/>
                  </a:lnTo>
                  <a:lnTo>
                    <a:pt x="199263" y="116967"/>
                  </a:lnTo>
                  <a:lnTo>
                    <a:pt x="36195" y="116967"/>
                  </a:lnTo>
                  <a:lnTo>
                    <a:pt x="36195" y="98933"/>
                  </a:lnTo>
                  <a:lnTo>
                    <a:pt x="199263" y="989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89915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98933"/>
              <a:ext cx="770255" cy="18034"/>
            </a:xfrm>
            <a:custGeom>
              <a:avLst/>
              <a:gdLst/>
              <a:ahLst/>
              <a:cxnLst/>
              <a:rect r="r" b="b" t="t" l="l"/>
              <a:pathLst>
                <a:path h="18034" w="770255">
                  <a:moveTo>
                    <a:pt x="770255" y="0"/>
                  </a:moveTo>
                  <a:lnTo>
                    <a:pt x="0" y="0"/>
                  </a:lnTo>
                  <a:lnTo>
                    <a:pt x="0" y="18034"/>
                  </a:lnTo>
                  <a:lnTo>
                    <a:pt x="770255" y="18034"/>
                  </a:lnTo>
                  <a:lnTo>
                    <a:pt x="770255" y="0"/>
                  </a:lnTo>
                  <a:close/>
                </a:path>
              </a:pathLst>
            </a:custGeom>
            <a:solidFill>
              <a:srgbClr val="F89915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806450" y="98933"/>
              <a:ext cx="181229" cy="18034"/>
            </a:xfrm>
            <a:custGeom>
              <a:avLst/>
              <a:gdLst/>
              <a:ahLst/>
              <a:cxnLst/>
              <a:rect r="r" b="b" t="t" l="l"/>
              <a:pathLst>
                <a:path h="18034" w="181229">
                  <a:moveTo>
                    <a:pt x="163068" y="0"/>
                  </a:moveTo>
                  <a:lnTo>
                    <a:pt x="0" y="0"/>
                  </a:lnTo>
                  <a:lnTo>
                    <a:pt x="0" y="18034"/>
                  </a:lnTo>
                  <a:lnTo>
                    <a:pt x="163068" y="18034"/>
                  </a:lnTo>
                  <a:lnTo>
                    <a:pt x="181229" y="9017"/>
                  </a:lnTo>
                  <a:lnTo>
                    <a:pt x="163068" y="0"/>
                  </a:lnTo>
                  <a:close/>
                </a:path>
              </a:pathLst>
            </a:custGeom>
            <a:solidFill>
              <a:srgbClr val="F89915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628138" y="1522794"/>
            <a:ext cx="815004" cy="797221"/>
            <a:chOff x="0" y="0"/>
            <a:chExt cx="1086672" cy="106296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86612" cy="1062990"/>
            </a:xfrm>
            <a:custGeom>
              <a:avLst/>
              <a:gdLst/>
              <a:ahLst/>
              <a:cxnLst/>
              <a:rect r="r" b="b" t="t" l="l"/>
              <a:pathLst>
                <a:path h="1062990" w="1086612">
                  <a:moveTo>
                    <a:pt x="0" y="0"/>
                  </a:moveTo>
                  <a:lnTo>
                    <a:pt x="1086612" y="0"/>
                  </a:lnTo>
                  <a:lnTo>
                    <a:pt x="1086612" y="1062990"/>
                  </a:lnTo>
                  <a:lnTo>
                    <a:pt x="0" y="10629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1111" r="0" b="-1111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3640011" y="1826919"/>
            <a:ext cx="741045" cy="162878"/>
            <a:chOff x="0" y="0"/>
            <a:chExt cx="988060" cy="2171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770382" y="0"/>
              <a:ext cx="199136" cy="216027"/>
            </a:xfrm>
            <a:custGeom>
              <a:avLst/>
              <a:gdLst/>
              <a:ahLst/>
              <a:cxnLst/>
              <a:rect r="r" b="b" t="t" l="l"/>
              <a:pathLst>
                <a:path h="216027" w="199136">
                  <a:moveTo>
                    <a:pt x="0" y="0"/>
                  </a:moveTo>
                  <a:lnTo>
                    <a:pt x="0" y="216027"/>
                  </a:lnTo>
                  <a:lnTo>
                    <a:pt x="199136" y="116967"/>
                  </a:lnTo>
                  <a:lnTo>
                    <a:pt x="36195" y="116967"/>
                  </a:lnTo>
                  <a:lnTo>
                    <a:pt x="36195" y="98933"/>
                  </a:lnTo>
                  <a:lnTo>
                    <a:pt x="199136" y="989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89915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98933"/>
              <a:ext cx="770382" cy="18034"/>
            </a:xfrm>
            <a:custGeom>
              <a:avLst/>
              <a:gdLst/>
              <a:ahLst/>
              <a:cxnLst/>
              <a:rect r="r" b="b" t="t" l="l"/>
              <a:pathLst>
                <a:path h="18034" w="770382">
                  <a:moveTo>
                    <a:pt x="770382" y="0"/>
                  </a:moveTo>
                  <a:lnTo>
                    <a:pt x="0" y="0"/>
                  </a:lnTo>
                  <a:lnTo>
                    <a:pt x="0" y="18034"/>
                  </a:lnTo>
                  <a:lnTo>
                    <a:pt x="770382" y="18034"/>
                  </a:lnTo>
                  <a:lnTo>
                    <a:pt x="770382" y="0"/>
                  </a:lnTo>
                  <a:close/>
                </a:path>
              </a:pathLst>
            </a:custGeom>
            <a:solidFill>
              <a:srgbClr val="F89915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806577" y="98933"/>
              <a:ext cx="181102" cy="18034"/>
            </a:xfrm>
            <a:custGeom>
              <a:avLst/>
              <a:gdLst/>
              <a:ahLst/>
              <a:cxnLst/>
              <a:rect r="r" b="b" t="t" l="l"/>
              <a:pathLst>
                <a:path h="18034" w="181102">
                  <a:moveTo>
                    <a:pt x="162941" y="0"/>
                  </a:moveTo>
                  <a:lnTo>
                    <a:pt x="0" y="0"/>
                  </a:lnTo>
                  <a:lnTo>
                    <a:pt x="0" y="18034"/>
                  </a:lnTo>
                  <a:lnTo>
                    <a:pt x="162941" y="18034"/>
                  </a:lnTo>
                  <a:lnTo>
                    <a:pt x="181102" y="9017"/>
                  </a:lnTo>
                  <a:lnTo>
                    <a:pt x="162941" y="0"/>
                  </a:lnTo>
                  <a:close/>
                </a:path>
              </a:pathLst>
            </a:custGeom>
            <a:solidFill>
              <a:srgbClr val="F89915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4677322" y="1550211"/>
            <a:ext cx="750908" cy="836871"/>
            <a:chOff x="0" y="0"/>
            <a:chExt cx="1001210" cy="111582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01268" cy="1115822"/>
            </a:xfrm>
            <a:custGeom>
              <a:avLst/>
              <a:gdLst/>
              <a:ahLst/>
              <a:cxnLst/>
              <a:rect r="r" b="b" t="t" l="l"/>
              <a:pathLst>
                <a:path h="1115822" w="1001268">
                  <a:moveTo>
                    <a:pt x="0" y="0"/>
                  </a:moveTo>
                  <a:lnTo>
                    <a:pt x="1001268" y="0"/>
                  </a:lnTo>
                  <a:lnTo>
                    <a:pt x="1001268" y="1115822"/>
                  </a:lnTo>
                  <a:lnTo>
                    <a:pt x="0" y="11158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-5720" t="0" r="-572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99571" y="3399304"/>
            <a:ext cx="5672138" cy="1433654"/>
            <a:chOff x="0" y="0"/>
            <a:chExt cx="7562850" cy="191153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562850" cy="1911538"/>
            </a:xfrm>
            <a:custGeom>
              <a:avLst/>
              <a:gdLst/>
              <a:ahLst/>
              <a:cxnLst/>
              <a:rect r="r" b="b" t="t" l="l"/>
              <a:pathLst>
                <a:path h="1911538" w="7562850">
                  <a:moveTo>
                    <a:pt x="0" y="0"/>
                  </a:moveTo>
                  <a:lnTo>
                    <a:pt x="7562850" y="0"/>
                  </a:lnTo>
                  <a:lnTo>
                    <a:pt x="7562850" y="1911538"/>
                  </a:lnTo>
                  <a:lnTo>
                    <a:pt x="0" y="19115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BA0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9689401" y="1293272"/>
            <a:ext cx="2071687" cy="1297115"/>
            <a:chOff x="0" y="0"/>
            <a:chExt cx="1657350" cy="103769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657350" cy="1037692"/>
            </a:xfrm>
            <a:custGeom>
              <a:avLst/>
              <a:gdLst/>
              <a:ahLst/>
              <a:cxnLst/>
              <a:rect r="r" b="b" t="t" l="l"/>
              <a:pathLst>
                <a:path h="1037692" w="1657350">
                  <a:moveTo>
                    <a:pt x="0" y="0"/>
                  </a:moveTo>
                  <a:lnTo>
                    <a:pt x="1657350" y="0"/>
                  </a:lnTo>
                  <a:lnTo>
                    <a:pt x="1657350" y="1037692"/>
                  </a:lnTo>
                  <a:lnTo>
                    <a:pt x="0" y="1037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-29857" r="0" b="-29857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215312" y="1419225"/>
            <a:ext cx="1243012" cy="1285875"/>
            <a:chOff x="0" y="0"/>
            <a:chExt cx="1657350" cy="17145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657350" cy="1714500"/>
            </a:xfrm>
            <a:custGeom>
              <a:avLst/>
              <a:gdLst/>
              <a:ahLst/>
              <a:cxnLst/>
              <a:rect r="r" b="b" t="t" l="l"/>
              <a:pathLst>
                <a:path h="1714500" w="1657350">
                  <a:moveTo>
                    <a:pt x="0" y="0"/>
                  </a:moveTo>
                  <a:lnTo>
                    <a:pt x="1657350" y="0"/>
                  </a:lnTo>
                  <a:lnTo>
                    <a:pt x="1657350" y="1714500"/>
                  </a:lnTo>
                  <a:lnTo>
                    <a:pt x="0" y="1714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-1724" t="0" r="-1724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6486525" y="1462087"/>
            <a:ext cx="1243012" cy="1269873"/>
            <a:chOff x="0" y="0"/>
            <a:chExt cx="1657350" cy="169316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657350" cy="1693164"/>
            </a:xfrm>
            <a:custGeom>
              <a:avLst/>
              <a:gdLst/>
              <a:ahLst/>
              <a:cxnLst/>
              <a:rect r="r" b="b" t="t" l="l"/>
              <a:pathLst>
                <a:path h="1693164" w="1657350">
                  <a:moveTo>
                    <a:pt x="0" y="0"/>
                  </a:moveTo>
                  <a:lnTo>
                    <a:pt x="1657350" y="0"/>
                  </a:lnTo>
                  <a:lnTo>
                    <a:pt x="1657350" y="1693164"/>
                  </a:lnTo>
                  <a:lnTo>
                    <a:pt x="0" y="16931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-1080" t="0" r="-1080" b="0"/>
              </a:stretch>
            </a:blip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5821681" y="138112"/>
            <a:ext cx="6644638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b="true" sz="3600" spc="-6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Strategies and Impact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0" y="328707"/>
            <a:ext cx="6014085" cy="342900"/>
            <a:chOff x="0" y="0"/>
            <a:chExt cx="8018780" cy="4572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266446"/>
              <a:ext cx="8018780" cy="190373"/>
            </a:xfrm>
            <a:custGeom>
              <a:avLst/>
              <a:gdLst/>
              <a:ahLst/>
              <a:cxnLst/>
              <a:rect r="r" b="b" t="t" l="l"/>
              <a:pathLst>
                <a:path h="190373" w="8018780">
                  <a:moveTo>
                    <a:pt x="8018780" y="0"/>
                  </a:moveTo>
                  <a:lnTo>
                    <a:pt x="0" y="0"/>
                  </a:lnTo>
                  <a:lnTo>
                    <a:pt x="0" y="190373"/>
                  </a:lnTo>
                  <a:lnTo>
                    <a:pt x="8018780" y="190373"/>
                  </a:lnTo>
                  <a:lnTo>
                    <a:pt x="8018780" y="0"/>
                  </a:lnTo>
                  <a:close/>
                </a:path>
              </a:pathLst>
            </a:custGeom>
            <a:solidFill>
              <a:srgbClr val="40BA07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018780" cy="190373"/>
            </a:xfrm>
            <a:custGeom>
              <a:avLst/>
              <a:gdLst/>
              <a:ahLst/>
              <a:cxnLst/>
              <a:rect r="r" b="b" t="t" l="l"/>
              <a:pathLst>
                <a:path h="190373" w="8018780">
                  <a:moveTo>
                    <a:pt x="8018780" y="0"/>
                  </a:moveTo>
                  <a:lnTo>
                    <a:pt x="0" y="0"/>
                  </a:lnTo>
                  <a:lnTo>
                    <a:pt x="0" y="190373"/>
                  </a:lnTo>
                  <a:lnTo>
                    <a:pt x="8018780" y="190373"/>
                  </a:lnTo>
                  <a:lnTo>
                    <a:pt x="8018780" y="0"/>
                  </a:lnTo>
                  <a:close/>
                </a:path>
              </a:pathLst>
            </a:custGeom>
            <a:solidFill>
              <a:srgbClr val="40BA07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2258675" y="328630"/>
            <a:ext cx="6028373" cy="371475"/>
            <a:chOff x="0" y="0"/>
            <a:chExt cx="8037830" cy="4953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288798"/>
              <a:ext cx="8037830" cy="206248"/>
            </a:xfrm>
            <a:custGeom>
              <a:avLst/>
              <a:gdLst/>
              <a:ahLst/>
              <a:cxnLst/>
              <a:rect r="r" b="b" t="t" l="l"/>
              <a:pathLst>
                <a:path h="206248" w="8037830">
                  <a:moveTo>
                    <a:pt x="8037830" y="0"/>
                  </a:moveTo>
                  <a:lnTo>
                    <a:pt x="0" y="0"/>
                  </a:lnTo>
                  <a:lnTo>
                    <a:pt x="0" y="206248"/>
                  </a:lnTo>
                  <a:lnTo>
                    <a:pt x="8037830" y="206248"/>
                  </a:lnTo>
                  <a:lnTo>
                    <a:pt x="8037830" y="0"/>
                  </a:lnTo>
                  <a:close/>
                </a:path>
              </a:pathLst>
            </a:custGeom>
            <a:solidFill>
              <a:srgbClr val="40BA07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037830" cy="206248"/>
            </a:xfrm>
            <a:custGeom>
              <a:avLst/>
              <a:gdLst/>
              <a:ahLst/>
              <a:cxnLst/>
              <a:rect r="r" b="b" t="t" l="l"/>
              <a:pathLst>
                <a:path h="206248" w="8037830">
                  <a:moveTo>
                    <a:pt x="8037830" y="0"/>
                  </a:moveTo>
                  <a:lnTo>
                    <a:pt x="0" y="0"/>
                  </a:lnTo>
                  <a:lnTo>
                    <a:pt x="0" y="206248"/>
                  </a:lnTo>
                  <a:lnTo>
                    <a:pt x="8037830" y="206248"/>
                  </a:lnTo>
                  <a:lnTo>
                    <a:pt x="8037830" y="0"/>
                  </a:lnTo>
                  <a:close/>
                </a:path>
              </a:pathLst>
            </a:custGeom>
            <a:solidFill>
              <a:srgbClr val="40BA07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6088951" y="3399304"/>
            <a:ext cx="5794385" cy="1433654"/>
            <a:chOff x="0" y="0"/>
            <a:chExt cx="7725847" cy="191153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725847" cy="1911538"/>
            </a:xfrm>
            <a:custGeom>
              <a:avLst/>
              <a:gdLst/>
              <a:ahLst/>
              <a:cxnLst/>
              <a:rect r="r" b="b" t="t" l="l"/>
              <a:pathLst>
                <a:path h="1911538" w="7725847">
                  <a:moveTo>
                    <a:pt x="0" y="0"/>
                  </a:moveTo>
                  <a:lnTo>
                    <a:pt x="7725847" y="0"/>
                  </a:lnTo>
                  <a:lnTo>
                    <a:pt x="7725847" y="1911538"/>
                  </a:lnTo>
                  <a:lnTo>
                    <a:pt x="0" y="19115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BA0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99571" y="6605065"/>
            <a:ext cx="5672138" cy="1433654"/>
            <a:chOff x="0" y="0"/>
            <a:chExt cx="7562850" cy="191153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562850" cy="1911538"/>
            </a:xfrm>
            <a:custGeom>
              <a:avLst/>
              <a:gdLst/>
              <a:ahLst/>
              <a:cxnLst/>
              <a:rect r="r" b="b" t="t" l="l"/>
              <a:pathLst>
                <a:path h="1911538" w="7562850">
                  <a:moveTo>
                    <a:pt x="0" y="0"/>
                  </a:moveTo>
                  <a:lnTo>
                    <a:pt x="7562850" y="0"/>
                  </a:lnTo>
                  <a:lnTo>
                    <a:pt x="7562850" y="1911538"/>
                  </a:lnTo>
                  <a:lnTo>
                    <a:pt x="0" y="19115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BA0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6088951" y="6600232"/>
            <a:ext cx="5794385" cy="1433654"/>
            <a:chOff x="0" y="0"/>
            <a:chExt cx="7725847" cy="191153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725847" cy="1911538"/>
            </a:xfrm>
            <a:custGeom>
              <a:avLst/>
              <a:gdLst/>
              <a:ahLst/>
              <a:cxnLst/>
              <a:rect r="r" b="b" t="t" l="l"/>
              <a:pathLst>
                <a:path h="1911538" w="7725847">
                  <a:moveTo>
                    <a:pt x="0" y="0"/>
                  </a:moveTo>
                  <a:lnTo>
                    <a:pt x="7725847" y="0"/>
                  </a:lnTo>
                  <a:lnTo>
                    <a:pt x="7725847" y="1911538"/>
                  </a:lnTo>
                  <a:lnTo>
                    <a:pt x="0" y="19115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BA0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2485697" y="1387477"/>
            <a:ext cx="879142" cy="908133"/>
            <a:chOff x="0" y="0"/>
            <a:chExt cx="1304006" cy="134700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304036" cy="1346944"/>
            </a:xfrm>
            <a:custGeom>
              <a:avLst/>
              <a:gdLst/>
              <a:ahLst/>
              <a:cxnLst/>
              <a:rect r="r" b="b" t="t" l="l"/>
              <a:pathLst>
                <a:path h="1346944" w="1304036">
                  <a:moveTo>
                    <a:pt x="0" y="0"/>
                  </a:moveTo>
                  <a:lnTo>
                    <a:pt x="1304036" y="0"/>
                  </a:lnTo>
                  <a:lnTo>
                    <a:pt x="1304036" y="1346944"/>
                  </a:lnTo>
                  <a:lnTo>
                    <a:pt x="0" y="1346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-1645" t="0" r="-1645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3564864" y="1777342"/>
            <a:ext cx="741045" cy="162878"/>
            <a:chOff x="0" y="0"/>
            <a:chExt cx="988060" cy="21717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770255" y="0"/>
              <a:ext cx="199263" cy="216027"/>
            </a:xfrm>
            <a:custGeom>
              <a:avLst/>
              <a:gdLst/>
              <a:ahLst/>
              <a:cxnLst/>
              <a:rect r="r" b="b" t="t" l="l"/>
              <a:pathLst>
                <a:path h="216027" w="199263">
                  <a:moveTo>
                    <a:pt x="0" y="0"/>
                  </a:moveTo>
                  <a:lnTo>
                    <a:pt x="0" y="216027"/>
                  </a:lnTo>
                  <a:lnTo>
                    <a:pt x="199263" y="116967"/>
                  </a:lnTo>
                  <a:lnTo>
                    <a:pt x="36195" y="116967"/>
                  </a:lnTo>
                  <a:lnTo>
                    <a:pt x="36195" y="98933"/>
                  </a:lnTo>
                  <a:lnTo>
                    <a:pt x="199263" y="989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89915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0" y="98933"/>
              <a:ext cx="770255" cy="18034"/>
            </a:xfrm>
            <a:custGeom>
              <a:avLst/>
              <a:gdLst/>
              <a:ahLst/>
              <a:cxnLst/>
              <a:rect r="r" b="b" t="t" l="l"/>
              <a:pathLst>
                <a:path h="18034" w="770255">
                  <a:moveTo>
                    <a:pt x="770255" y="0"/>
                  </a:moveTo>
                  <a:lnTo>
                    <a:pt x="0" y="0"/>
                  </a:lnTo>
                  <a:lnTo>
                    <a:pt x="0" y="18034"/>
                  </a:lnTo>
                  <a:lnTo>
                    <a:pt x="770255" y="18034"/>
                  </a:lnTo>
                  <a:lnTo>
                    <a:pt x="770255" y="0"/>
                  </a:lnTo>
                  <a:close/>
                </a:path>
              </a:pathLst>
            </a:custGeom>
            <a:solidFill>
              <a:srgbClr val="F89915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806450" y="98933"/>
              <a:ext cx="181229" cy="18034"/>
            </a:xfrm>
            <a:custGeom>
              <a:avLst/>
              <a:gdLst/>
              <a:ahLst/>
              <a:cxnLst/>
              <a:rect r="r" b="b" t="t" l="l"/>
              <a:pathLst>
                <a:path h="18034" w="181229">
                  <a:moveTo>
                    <a:pt x="163068" y="0"/>
                  </a:moveTo>
                  <a:lnTo>
                    <a:pt x="0" y="0"/>
                  </a:lnTo>
                  <a:lnTo>
                    <a:pt x="0" y="18034"/>
                  </a:lnTo>
                  <a:lnTo>
                    <a:pt x="163068" y="18034"/>
                  </a:lnTo>
                  <a:lnTo>
                    <a:pt x="181229" y="9017"/>
                  </a:lnTo>
                  <a:lnTo>
                    <a:pt x="163068" y="0"/>
                  </a:lnTo>
                  <a:close/>
                </a:path>
              </a:pathLst>
            </a:custGeom>
            <a:solidFill>
              <a:srgbClr val="F89915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4536132" y="1387477"/>
            <a:ext cx="815004" cy="828969"/>
            <a:chOff x="0" y="0"/>
            <a:chExt cx="1086672" cy="1105293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86612" cy="1105321"/>
            </a:xfrm>
            <a:custGeom>
              <a:avLst/>
              <a:gdLst/>
              <a:ahLst/>
              <a:cxnLst/>
              <a:rect r="r" b="b" t="t" l="l"/>
              <a:pathLst>
                <a:path h="1105321" w="1086612">
                  <a:moveTo>
                    <a:pt x="0" y="0"/>
                  </a:moveTo>
                  <a:lnTo>
                    <a:pt x="1086612" y="0"/>
                  </a:lnTo>
                  <a:lnTo>
                    <a:pt x="1086612" y="1105321"/>
                  </a:lnTo>
                  <a:lnTo>
                    <a:pt x="0" y="11053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-860" t="0" r="-860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5548005" y="1723350"/>
            <a:ext cx="741045" cy="162878"/>
            <a:chOff x="0" y="0"/>
            <a:chExt cx="988060" cy="21717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770382" y="0"/>
              <a:ext cx="199136" cy="216027"/>
            </a:xfrm>
            <a:custGeom>
              <a:avLst/>
              <a:gdLst/>
              <a:ahLst/>
              <a:cxnLst/>
              <a:rect r="r" b="b" t="t" l="l"/>
              <a:pathLst>
                <a:path h="216027" w="199136">
                  <a:moveTo>
                    <a:pt x="0" y="0"/>
                  </a:moveTo>
                  <a:lnTo>
                    <a:pt x="0" y="216027"/>
                  </a:lnTo>
                  <a:lnTo>
                    <a:pt x="199136" y="116967"/>
                  </a:lnTo>
                  <a:lnTo>
                    <a:pt x="36195" y="116967"/>
                  </a:lnTo>
                  <a:lnTo>
                    <a:pt x="36195" y="98933"/>
                  </a:lnTo>
                  <a:lnTo>
                    <a:pt x="199136" y="989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89915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0" y="98933"/>
              <a:ext cx="770382" cy="18034"/>
            </a:xfrm>
            <a:custGeom>
              <a:avLst/>
              <a:gdLst/>
              <a:ahLst/>
              <a:cxnLst/>
              <a:rect r="r" b="b" t="t" l="l"/>
              <a:pathLst>
                <a:path h="18034" w="770382">
                  <a:moveTo>
                    <a:pt x="770382" y="0"/>
                  </a:moveTo>
                  <a:lnTo>
                    <a:pt x="0" y="0"/>
                  </a:lnTo>
                  <a:lnTo>
                    <a:pt x="0" y="18034"/>
                  </a:lnTo>
                  <a:lnTo>
                    <a:pt x="770382" y="18034"/>
                  </a:lnTo>
                  <a:lnTo>
                    <a:pt x="770382" y="0"/>
                  </a:lnTo>
                  <a:close/>
                </a:path>
              </a:pathLst>
            </a:custGeom>
            <a:solidFill>
              <a:srgbClr val="F89915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806577" y="98933"/>
              <a:ext cx="181102" cy="18034"/>
            </a:xfrm>
            <a:custGeom>
              <a:avLst/>
              <a:gdLst/>
              <a:ahLst/>
              <a:cxnLst/>
              <a:rect r="r" b="b" t="t" l="l"/>
              <a:pathLst>
                <a:path h="18034" w="181102">
                  <a:moveTo>
                    <a:pt x="162941" y="0"/>
                  </a:moveTo>
                  <a:lnTo>
                    <a:pt x="0" y="0"/>
                  </a:lnTo>
                  <a:lnTo>
                    <a:pt x="0" y="18034"/>
                  </a:lnTo>
                  <a:lnTo>
                    <a:pt x="162941" y="18034"/>
                  </a:lnTo>
                  <a:lnTo>
                    <a:pt x="181102" y="9017"/>
                  </a:lnTo>
                  <a:lnTo>
                    <a:pt x="162941" y="0"/>
                  </a:lnTo>
                  <a:close/>
                </a:path>
              </a:pathLst>
            </a:custGeom>
            <a:solidFill>
              <a:srgbClr val="F89915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2159901" y="3399304"/>
            <a:ext cx="5996610" cy="1433654"/>
            <a:chOff x="0" y="0"/>
            <a:chExt cx="7995480" cy="191153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995480" cy="1911538"/>
            </a:xfrm>
            <a:custGeom>
              <a:avLst/>
              <a:gdLst/>
              <a:ahLst/>
              <a:cxnLst/>
              <a:rect r="r" b="b" t="t" l="l"/>
              <a:pathLst>
                <a:path h="1911538" w="7995480">
                  <a:moveTo>
                    <a:pt x="0" y="0"/>
                  </a:moveTo>
                  <a:lnTo>
                    <a:pt x="7995480" y="0"/>
                  </a:lnTo>
                  <a:lnTo>
                    <a:pt x="7995480" y="1911538"/>
                  </a:lnTo>
                  <a:lnTo>
                    <a:pt x="0" y="19115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BA0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12165233" y="6605065"/>
            <a:ext cx="5991278" cy="1433654"/>
            <a:chOff x="0" y="0"/>
            <a:chExt cx="7988370" cy="191153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7988370" cy="1911538"/>
            </a:xfrm>
            <a:custGeom>
              <a:avLst/>
              <a:gdLst/>
              <a:ahLst/>
              <a:cxnLst/>
              <a:rect r="r" b="b" t="t" l="l"/>
              <a:pathLst>
                <a:path h="1911538" w="7988370">
                  <a:moveTo>
                    <a:pt x="0" y="0"/>
                  </a:moveTo>
                  <a:lnTo>
                    <a:pt x="7988370" y="0"/>
                  </a:lnTo>
                  <a:lnTo>
                    <a:pt x="7988370" y="1911538"/>
                  </a:lnTo>
                  <a:lnTo>
                    <a:pt x="0" y="19115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BA0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62" id="62"/>
          <p:cNvSpPr/>
          <p:nvPr/>
        </p:nvSpPr>
        <p:spPr>
          <a:xfrm flipH="false" flipV="false" rot="0">
            <a:off x="16517650" y="1339973"/>
            <a:ext cx="923978" cy="923978"/>
          </a:xfrm>
          <a:custGeom>
            <a:avLst/>
            <a:gdLst/>
            <a:ahLst/>
            <a:cxnLst/>
            <a:rect r="r" b="b" t="t" l="l"/>
            <a:pathLst>
              <a:path h="923978" w="923978">
                <a:moveTo>
                  <a:pt x="0" y="0"/>
                </a:moveTo>
                <a:lnTo>
                  <a:pt x="923978" y="0"/>
                </a:lnTo>
                <a:lnTo>
                  <a:pt x="923978" y="923978"/>
                </a:lnTo>
                <a:lnTo>
                  <a:pt x="0" y="923978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63" id="63"/>
          <p:cNvSpPr txBox="true"/>
          <p:nvPr/>
        </p:nvSpPr>
        <p:spPr>
          <a:xfrm rot="0">
            <a:off x="1506853" y="817022"/>
            <a:ext cx="3286698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2100" spc="-30">
                <a:solidFill>
                  <a:srgbClr val="40BA0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</a:t>
            </a:r>
            <a:r>
              <a:rPr lang="en-US" b="true" sz="2100" spc="-30">
                <a:solidFill>
                  <a:srgbClr val="40BA0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top Losing Sales Now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440530" y="839947"/>
            <a:ext cx="176212" cy="396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2100" spc="-75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7431405" y="817022"/>
            <a:ext cx="4178427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2100" spc="-14">
                <a:solidFill>
                  <a:srgbClr val="40BA0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Create a Smooth Customer Journey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6362795" y="839947"/>
            <a:ext cx="176212" cy="396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2100" spc="-75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3177838" y="809211"/>
            <a:ext cx="4685662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2100" spc="-15">
                <a:solidFill>
                  <a:srgbClr val="40BA0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Turn</a:t>
            </a:r>
            <a:r>
              <a:rPr lang="en-US" b="true" sz="2100" spc="-15">
                <a:solidFill>
                  <a:srgbClr val="40BA0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Happy Customers into Promoters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2077127" y="809211"/>
            <a:ext cx="176212" cy="396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2100" spc="-75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302648" y="2361079"/>
            <a:ext cx="1566857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b="true" sz="1875" i="true" spc="-15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Check If Cus</a:t>
            </a:r>
            <a:r>
              <a:rPr lang="en-US" b="true" sz="1875" i="true" spc="-15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tomers Can Pay First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2060164" y="2388976"/>
            <a:ext cx="1845595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b="true" sz="1875" i="true" spc="-15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Call the 188 "Stuck" Custome</a:t>
            </a:r>
            <a:r>
              <a:rPr lang="en-US" b="true" sz="1875" i="true" spc="-15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rs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4010533" y="2388976"/>
            <a:ext cx="2475991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b="true" sz="1875" i="true" spc="-15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Fix</a:t>
            </a:r>
            <a:r>
              <a:rPr lang="en-US" b="true" sz="1875" i="true" spc="-15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 Broken Reports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311425" y="3420507"/>
            <a:ext cx="5343685" cy="1333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1"/>
              </a:lnSpc>
            </a:pP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Hav</a:t>
            </a: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e the </a:t>
            </a:r>
            <a:r>
              <a:rPr lang="en-US" sz="21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sales team quickly verify a new customer’s ability</a:t>
            </a: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to pay before investing significant time. This could prevent nearly half of all failed sales.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6255478" y="2741641"/>
            <a:ext cx="1901732" cy="573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5"/>
              </a:lnSpc>
            </a:pPr>
            <a:r>
              <a:rPr lang="en-US" b="true" sz="1800" i="true" spc="-15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Measure Sales by Customer Happiness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8056341" y="2693860"/>
            <a:ext cx="1737359" cy="573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3"/>
              </a:lnSpc>
            </a:pPr>
            <a:r>
              <a:rPr lang="en-US" b="true" sz="1800" i="true" spc="-15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Send Automatic Follow-Ups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9898475" y="2666586"/>
            <a:ext cx="1752220" cy="572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2"/>
              </a:lnSpc>
            </a:pPr>
            <a:r>
              <a:rPr lang="en-US" b="true" sz="1800" spc="-15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Be Honest About Delivery Times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6140783" y="3420507"/>
            <a:ext cx="5643171" cy="1333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1"/>
              </a:lnSpc>
            </a:pPr>
            <a:r>
              <a:rPr lang="en-US" sz="21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</a:t>
            </a:r>
            <a:r>
              <a:rPr lang="en-US" sz="21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ales teams in Mumbai and Bangalore</a:t>
            </a: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will be judged on </a:t>
            </a:r>
            <a:r>
              <a:rPr lang="en-US" sz="21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post-sale customer satisfaction</a:t>
            </a: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, as they bring in the most “Hot” customers but also the most unh</a:t>
            </a: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appy ones.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311425" y="5043714"/>
            <a:ext cx="5343685" cy="1333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1"/>
              </a:lnSpc>
            </a:pP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Form 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dedicated team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to contact every customer 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currently waiting for a delivery date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 Fast follow-ups can reduce cancellations caused by delays and improve customer trust.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314128" y="6626268"/>
            <a:ext cx="5472807" cy="1333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1"/>
              </a:lnSpc>
            </a:pP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Eliminat</a:t>
            </a: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e the </a:t>
            </a:r>
            <a:r>
              <a:rPr lang="en-US" sz="21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“Other”</a:t>
            </a: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category in cancellation reports—it's </a:t>
            </a:r>
            <a:r>
              <a:rPr lang="en-US" sz="21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hiding 21% of real issues.</a:t>
            </a: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Enable real-time inventory visibility for the sales team to prevent selling out-of-stock items.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283368" y="8153019"/>
            <a:ext cx="5503567" cy="1333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1"/>
              </a:lnSpc>
            </a:pP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 cities that find the most 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"Hot" leads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(Mumbai and Bangalore) are also 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creating the unhappiest customers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 The company is over-promising and turning its most valuable prospects into critics.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6140783" y="5043714"/>
            <a:ext cx="5469049" cy="1333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1"/>
              </a:lnSpc>
            </a:pP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If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a customer has been 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waiting for more than two days for an answer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send them an 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automatic email or text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 This makes them feel like you haven't forgotten them and helps keep the sale.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6087850" y="6711561"/>
            <a:ext cx="5773849" cy="1248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8"/>
              </a:lnSpc>
            </a:pPr>
            <a:r>
              <a:rPr lang="en-US" sz="20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Past data</a:t>
            </a:r>
            <a:r>
              <a:rPr lang="en-US" sz="2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will be used to give customers </a:t>
            </a:r>
            <a:r>
              <a:rPr lang="en-US" sz="20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accurate delivery estimates</a:t>
            </a:r>
            <a:r>
              <a:rPr lang="en-US" sz="20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before confirming a purchase. Clear communication upfront will help build trust and reduce cancellations caused by unmet expectations.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6140783" y="8153019"/>
            <a:ext cx="5343685" cy="1333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1"/>
              </a:lnSpc>
            </a:pP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 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dedicated team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will be formed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to manage the 303 “Hot” leads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ensuring these high-value customers receive personalized attention throughout the entire process.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2210642" y="2257510"/>
            <a:ext cx="1566857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b="true" sz="1875" i="true" spc="-15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Manag</a:t>
            </a:r>
            <a:r>
              <a:rPr lang="en-US" b="true" sz="1875" i="true" spc="-15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ers Call Unhappy Customers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3968158" y="2285407"/>
            <a:ext cx="1845595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b="true" sz="1875" i="true" spc="-15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Learn from Chennai’s Succes</a:t>
            </a:r>
            <a:r>
              <a:rPr lang="en-US" b="true" sz="1875" i="true" spc="-15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s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5918528" y="2285407"/>
            <a:ext cx="2475991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b="true" sz="1875" i="true" spc="-15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Emp</a:t>
            </a:r>
            <a:r>
              <a:rPr lang="en-US" b="true" sz="1875" i="true" spc="-15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ower the Service Team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2222104" y="3420507"/>
            <a:ext cx="5783075" cy="1333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1"/>
              </a:lnSpc>
            </a:pP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</a:t>
            </a: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et up a </a:t>
            </a:r>
            <a:r>
              <a:rPr lang="en-US" sz="21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24/7 EV helpdesk </a:t>
            </a: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and </a:t>
            </a:r>
            <a:r>
              <a:rPr lang="en-US" sz="21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proactive monitoring tools</a:t>
            </a: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to detect and resolve charging or performance issues before customers complain. Send instant alerts and step-by-step fixes through the app or SMS.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2210642" y="5043714"/>
            <a:ext cx="5794537" cy="1333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1"/>
              </a:lnSpc>
            </a:pP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Cre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ate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dedicated EV service hubs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in major cities with trained technicians and f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ast-track repair options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 Offer 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on-site assistance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or mobile service vans for common issues to reduce downtime and frustration.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12256051" y="6595540"/>
            <a:ext cx="5749128" cy="1333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1"/>
              </a:lnSpc>
            </a:pP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Use </a:t>
            </a:r>
            <a:r>
              <a:rPr lang="en-US" sz="21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real-time data</a:t>
            </a: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to give customers </a:t>
            </a:r>
            <a:r>
              <a:rPr lang="en-US" sz="21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accurate delivery dates, repair timelines, and charging availability</a:t>
            </a: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. Automatic status updates build trust and reduce anxiety, especially when delays occur.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12159901" y="8153019"/>
            <a:ext cx="5996610" cy="1657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1"/>
              </a:lnSpc>
            </a:pP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Launch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an 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EV loyalty and referral program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that rewards satisfied users for sharing positive reviews or referring friends. Pair this with </a:t>
            </a: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follow-up calls from managers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to unhappy customers to show genuine care and regain trust.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3895725"/>
            <a:chOff x="0" y="0"/>
            <a:chExt cx="24384000" cy="5194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5194300"/>
            </a:xfrm>
            <a:custGeom>
              <a:avLst/>
              <a:gdLst/>
              <a:ahLst/>
              <a:cxnLst/>
              <a:rect r="r" b="b" t="t" l="l"/>
              <a:pathLst>
                <a:path h="5194300" w="24384000">
                  <a:moveTo>
                    <a:pt x="24384000" y="5194300"/>
                  </a:moveTo>
                  <a:lnTo>
                    <a:pt x="0" y="5194300"/>
                  </a:lnTo>
                  <a:lnTo>
                    <a:pt x="0" y="0"/>
                  </a:lnTo>
                  <a:lnTo>
                    <a:pt x="24384000" y="0"/>
                  </a:lnTo>
                  <a:lnTo>
                    <a:pt x="24384000" y="5194300"/>
                  </a:lnTo>
                  <a:close/>
                </a:path>
              </a:pathLst>
            </a:custGeom>
            <a:solidFill>
              <a:srgbClr val="40BA07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4459481" y="1081087"/>
            <a:ext cx="8594729" cy="1724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59"/>
              </a:lnSpc>
            </a:pPr>
            <a:r>
              <a:rPr lang="en-US" sz="11299" spc="669">
                <a:solidFill>
                  <a:srgbClr val="FFFFFF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Thank You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975438" y="4747101"/>
            <a:ext cx="4337124" cy="2981773"/>
          </a:xfrm>
          <a:custGeom>
            <a:avLst/>
            <a:gdLst/>
            <a:ahLst/>
            <a:cxnLst/>
            <a:rect r="r" b="b" t="t" l="l"/>
            <a:pathLst>
              <a:path h="2981773" w="4337124">
                <a:moveTo>
                  <a:pt x="0" y="0"/>
                </a:moveTo>
                <a:lnTo>
                  <a:pt x="4337124" y="0"/>
                </a:lnTo>
                <a:lnTo>
                  <a:pt x="4337124" y="2981773"/>
                </a:lnTo>
                <a:lnTo>
                  <a:pt x="0" y="29817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DAG3cjQ8Ml0</dc:identifier>
  <dcterms:modified xsi:type="dcterms:W3CDTF">2011-08-01T06:04:30Z</dcterms:modified>
  <cp:revision>1</cp:revision>
  <dc:title>Umed Kumar_Business Analyst_NIT Raipur</dc:title>
</cp:coreProperties>
</file>